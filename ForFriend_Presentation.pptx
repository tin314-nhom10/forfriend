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E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1005840" cy="1005840"/>
          </a:xfrm>
          <a:prstGeom prst="rect">
            <a:avLst/>
          </a:prstGeom>
        </p:spPr>
      </p:pic>
      <p:pic>
        <p:nvPicPr>
          <p:cNvPr id="4" name="Picture 3" descr="forfrien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731520"/>
            <a:ext cx="3226003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2FF"/>
                </a:solidFill>
                <a:latin typeface="Segoe UI"/>
              </a:defRPr>
            </a:pPr>
            <a:r>
              <a:t>TRƯỜNG ĐẠI HỌC NGOẠI THƯƠNG • KHOA CÔNG NGHỆ VÀ KHOA HỌC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FA0AD"/>
                </a:solidFill>
                <a:latin typeface="Segoe UI"/>
              </a:defRPr>
            </a:pPr>
            <a:r>
              <a:t>BÁO CÁO ĐỒ ÁN MÔN HỌC: LẬP TRÌNH ỨNG DỤNG WEB (TIN314)</a:t>
            </a:r>
          </a:p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FORFRIEND: STUDENT STUDY BUDDY &amp; VIRTUAL ROOM</a:t>
            </a:r>
          </a:p>
          <a:p>
            <a:pPr>
              <a:defRPr sz="1400">
                <a:solidFill>
                  <a:srgbClr val="2CEAA3"/>
                </a:solidFill>
                <a:latin typeface="Segoe UI"/>
              </a:defRPr>
            </a:pPr>
            <a:r>
              <a:t>Nền tảng kết nối tìm bạn học nhóm sinh viên &amp; Phòng học ảo tích hợp Video Call (Pure Python Fullstack)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173736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1B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Giảng viên hướng dẫn: ThS. Trần Công Minh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Nhóm thực hiện: Nhóm 10 • Lớp tín chỉ: TIN314(2526-2)He.1</a:t>
            </a:r>
          </a:p>
          <a:p>
            <a:pPr>
              <a:defRPr sz="1100">
                <a:solidFill>
                  <a:srgbClr val="8FA0AD"/>
                </a:solidFill>
                <a:latin typeface="Segoe UI"/>
              </a:defRPr>
            </a:pPr>
            <a:r>
              <a:t>Thành viên: Nguyễn Hoàng Nam (Lead) • Lê Phương Anh • Trần Quang Minh • Đặng Thùy Linh • Vũ Minh Đức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EAA3"/>
                </a:solidFill>
                <a:latin typeface="Segoe UI"/>
              </a:defRPr>
            </a:pPr>
            <a:r>
              <a:t>PRESENTATION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Nội Dung Thuyết Trình Đồ Án</a:t>
            </a:r>
          </a:p>
          <a:p>
            <a:pPr>
              <a:defRPr sz="1200">
                <a:solidFill>
                  <a:srgbClr val="8FA0AD"/>
                </a:solidFill>
                <a:latin typeface="Segoe UI"/>
              </a:defRPr>
            </a:pPr>
            <a:r>
              <a:t>Cấu trúc 4 phần giải quyết trọn vẹn yêu cầu của giảng viên hướng dẫn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66360" cy="201168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2CE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617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EAA3"/>
                </a:solidFill>
                <a:latin typeface="Segoe UI"/>
              </a:defRPr>
            </a:pPr>
            <a:r>
              <a:t>PHẦN 01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WHY THIS? SOLVE WHICH PROBLEM?</a:t>
            </a:r>
          </a:p>
          <a:p>
            <a:pPr>
              <a:defRPr sz="1100">
                <a:solidFill>
                  <a:srgbClr val="8FA0AD"/>
                </a:solidFill>
                <a:latin typeface="Segoe UI"/>
              </a:defRPr>
            </a:pPr>
            <a:r>
              <a:t>Bối cảnh sinh viên học một mình • Nhu cầu tìm bạn học nhóm • Các pain points của Facebook/Zalo • Giá trị cốt lõi của ForFriend.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45920"/>
            <a:ext cx="5166360" cy="201168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74520"/>
            <a:ext cx="4617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Segoe UI"/>
              </a:defRPr>
            </a:pPr>
            <a:r>
              <a:t>PHẦN 02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KỸ THUẬT &amp; CÔNG NGHỆ ÁP DỤNG</a:t>
            </a:r>
          </a:p>
          <a:p>
            <a:pPr>
              <a:defRPr sz="1100">
                <a:solidFill>
                  <a:srgbClr val="8FA0AD"/>
                </a:solidFill>
                <a:latin typeface="Segoe UI"/>
              </a:defRPr>
            </a:pPr>
            <a:r>
              <a:t>Kiến trúc Pure Python Stack (Zero Docker/Redis) • Reflex SPA Frontend • FastAPI Async • SQLite 3 • In-Memory Hub • LiveKit WebRTC.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66360" cy="201168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617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PHẦN 03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CÁC TÍNH NĂNG ĐÃ XÂY DỰNG</a:t>
            </a:r>
          </a:p>
          <a:p>
            <a:pPr>
              <a:defRPr sz="1100">
                <a:solidFill>
                  <a:srgbClr val="8FA0AD"/>
                </a:solidFill>
                <a:latin typeface="Segoe UI"/>
              </a:defRPr>
            </a:pPr>
            <a:r>
              <a:t>15 Chibi Avatars • Bảng tin Quest &amp; Bộ lọc môn/trường • Thuật toán Matching 5 trọng số • Phòng học ảo LiveKit &amp; Pomodoro • Đánh giá 5★.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31920"/>
            <a:ext cx="5166360" cy="201168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160520"/>
            <a:ext cx="4617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PHẦN 04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KỊCH BẢN DEMO THỰC TẾ</a:t>
            </a:r>
          </a:p>
          <a:p>
            <a:pPr>
              <a:defRPr sz="1100">
                <a:solidFill>
                  <a:srgbClr val="8FA0AD"/>
                </a:solidFill>
                <a:latin typeface="Segoe UI"/>
              </a:defRPr>
            </a:pPr>
            <a:r>
              <a:t>Luồng trải nghiệm 5 bước: Khởi tạo Hero -&gt; Tìm Quest &amp; Match -&gt; Tạo Quest mới -&gt; Họp phòng LiveKit Video Call -&gt; Đánh giá bạn học.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EAA3"/>
                </a:solidFill>
                <a:latin typeface="Segoe UI"/>
              </a:defRPr>
            </a:pPr>
            <a:r>
              <a:t>PART 1: WHY THIS? SOLVE WHICH PROBLEM?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Thực Trạng Học Tập &amp; Nhu Cầu Cấp Thiết Của Sinh Viên</a:t>
            </a:r>
          </a:p>
          <a:p>
            <a:pPr>
              <a:defRPr sz="1200">
                <a:solidFill>
                  <a:srgbClr val="8FA0AD"/>
                </a:solidFill>
                <a:latin typeface="Segoe UI"/>
              </a:defRPr>
            </a:pPr>
            <a:r>
              <a:t>Tại sao sinh viên cần một nền tảng chuyên biệt thay vì các công cụ mạng xã hội hiện có?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🚨 THỰC TRẠNG: NỖI ĐAU CỦA SINH VIÊN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Áp lực môn học nặng: 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  Các môn Kinh tế lượng, Toán cao cấp, Lập trình ứng dụng, Ôn thi IELTS đòi hỏi thảo luận và giải bài tập theo nhóm.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Cảm giác cô đơn &amp; Bế tắc: 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  82% sinh viên khảo sát tại khu vực Đống Đa - Cầu Giấy từng bế tắc khi tự học một mình, dễ bỏ cuộc giữa chừng.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Học online thiếu kỷ luật: 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  Học qua Meet/Zoom cá nhân dễ xao nhãng, tắt camera lướt mạng xã hội, thiếu sự giám sát đồng đội tích cực.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Khó tìm bạn đúng trình độ: 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  Rất khó tìm được bạn cùng trường, cùng lịch rảnh và có cùng quyết tâm đạt điểm cao (Target A/A+).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45920"/>
            <a:ext cx="5166360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⚡ HẠN CHẾ CỦA CÁC GIẢI PHÁP HIỆN CÓ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Hội nhóm Facebook / Zalo: 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  Tin đăng tìm bạn trôi sau vài phút; không có bộ lọc môn học; lẫn lộn quảng cáo, cho thuê trọ và spam; nguy cơ lộ thông tin cá nhân.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Google Meet / Zoom: 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  Chỉ là công cụ gọi video thuần túy; link phòng rời rạc, hết hạn; không có cộng đồng và không thể ghép nối bạn mới.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Discord Study Servers: 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  Quá phức tạp đối với sinh viên không chuyên IT; thiếu tính bản địa hóa theo từng trường đại học Việt Nam (FTU, NEU).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Thiếu cơ chế tín nhiệm: 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  Không có đánh giá sao sau buổi học dẫn đến tình trạng 'bùng kèo' hẹn học nhóm offline/online thường xuyên.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EAA3"/>
                </a:solidFill>
                <a:latin typeface="Segoe UI"/>
              </a:defRPr>
            </a:pPr>
            <a:r>
              <a:t>PART 1: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Giải Pháp ForFriend: Mô Hình Hybrid All-In-One</a:t>
            </a:r>
          </a:p>
          <a:p>
            <a:pPr>
              <a:defRPr sz="1200">
                <a:solidFill>
                  <a:srgbClr val="8FA0AD"/>
                </a:solidFill>
                <a:latin typeface="Segoe UI"/>
              </a:defRPr>
            </a:pPr>
            <a:r>
              <a:t>Nền tảng kết nối học tập game hóa kết hợp hoàn hảo giữa Offline và Online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937760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2CE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EAA3"/>
                </a:solidFill>
              </a:defRPr>
            </a:pPr>
            <a:r>
              <a:t>🎯 3 TRỤ CỘT GIÁ TRỊ VƯỢT TRỘI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1. Mô hình Hybrid linh hoạt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Hỗ trợ cả hẹn học Offline (Thư viện Tòa A - FTU, Cà phê Chùa Láng) lẫn Online (Phòng học ảo tích hợp Video Call không cần rời web).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2. Thuật toán Matching đa chiều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Tự động so khớp hồ sơ sinh viên với Quest học tập dựa trên 5 trọng số: Cùng trường (40%), Cùng khu vực (20%), Trùng môn học (25%), Recency &amp; Rating.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3. Trải nghiệm Gamification Retro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Biến việc học thành các 'Study Quest' đồng đội; hệ thống 15 Avatar Chibi Pixel bảo vệ danh tính; tích lũy EXP thăng cấp và đánh giá 1-5 sao uy tín.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516575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1B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_02_quest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333695" cy="29987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5669280"/>
            <a:ext cx="5333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2CEAA3"/>
                </a:solidFill>
              </a:defRPr>
            </a:pPr>
            <a:r>
              <a:t>Giao diện Discover Partners: Bảng tin Quest Feed, Bộ lọc môn học &amp; Widget Hero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EAA3"/>
                </a:solidFill>
                <a:latin typeface="Segoe UI"/>
              </a:defRPr>
            </a:pPr>
            <a:r>
              <a:t>PART 2: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Kiến Trúc Hệ Thống: 100% Pure Python Stack</a:t>
            </a:r>
          </a:p>
          <a:p>
            <a:pPr>
              <a:defRPr sz="1200">
                <a:solidFill>
                  <a:srgbClr val="8FA0AD"/>
                </a:solidFill>
                <a:latin typeface="Segoe UI"/>
              </a:defRPr>
            </a:pPr>
            <a:r>
              <a:t>Zero External Dependencies — Không phụ thuộc Docker, Redis hay cơ sở dữ liệu ngoài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5943600" cy="335942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78040" y="1645920"/>
            <a:ext cx="4282135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1B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⚙️ ĐẶC ĐIỂM KIẾN TRÚC NỔI BẬT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Zero External Dependencies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  Chạy trực tiếp bằng Python virtualenv (.venv). Giảng viên và hội đồng có thể khởi chạy đồ án ngay mà không cần cài đặt Docker hay Redis.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Frontend: Reflex (Python-first)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  100% mã UI viết bằng Python, tự động compile sang React SPA. Quản lý trạng thái tập trung qua rx.State và WebSocket sync.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Backend: FastAPI Async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  Python 3.11+ bất đồng bộ toàn diện, cung cấp RESTful API chuẩn OpenAPI (Swagger UI tại /docs) và native WebSocket.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In-Memory Real-time Hub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  Quản lý kết nối socket và bộ nhớ đệm (Cache TTL) thuần Python trong RAM, thay thế 100% Redis.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EAA3"/>
                </a:solidFill>
                <a:latin typeface="Segoe UI"/>
              </a:defRPr>
            </a:pPr>
            <a:r>
              <a:t>PART 2: DATA &amp; REAL-TIME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Cơ Sở Dữ Liệu SQLite &amp; In-Memory Real-Time Hub</a:t>
            </a:r>
          </a:p>
          <a:p>
            <a:pPr>
              <a:defRPr sz="1200">
                <a:solidFill>
                  <a:srgbClr val="8FA0AD"/>
                </a:solidFill>
                <a:latin typeface="Segoe UI"/>
              </a:defRPr>
            </a:pPr>
            <a:r>
              <a:t>Mô hình dữ liệu chuẩn hóa 10 bảng và cơ chế điều phối WebSocket độ trễ thấp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base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5943600" cy="294802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78040" y="1645920"/>
            <a:ext cx="4282135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1B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💾 DỮ LIỆU &amp; GIAO TIẾP THỜI GIAN THỰC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SQLite 3 Async (aiosqlite)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  Lưu trữ tập tin forfriend.db nhúng. Kết hợp SQLAlchemy 2.0 Async Session cho hiệu năng đọc/ghi bất đồng bộ cao, không nghẽn luồng.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10 Quan hệ chuẩn 3NF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  Thiết kế đầy đủ: user, user_subject, post (quest), post_tag, room, room_category, room_participant, rating, friendship, message.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In-Memory ConnectionManager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  Quản lý kết nối socket dict[str, WebSocket] giúp phát thông báo real-time khi có người xin vào phòng hoặc tin nhắn mới với độ trễ &lt; 30ms.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LiveKit Cloud SFU WebRTC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  Tích hợp dịch vụ SFU WebRTC phân phối luồng Video/Audio 720p bảo mật qua token động sinh từ backend.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EAA3"/>
                </a:solidFill>
                <a:latin typeface="Segoe UI"/>
              </a:defRPr>
            </a:pPr>
            <a:r>
              <a:t>PART 2: MATCHING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Thuật Toán Ghép Bạn Học: Multi-Factor Relevance Scoring</a:t>
            </a:r>
          </a:p>
          <a:p>
            <a:pPr>
              <a:defRPr sz="1200">
                <a:solidFill>
                  <a:srgbClr val="8FA0AD"/>
                </a:solidFill>
                <a:latin typeface="Segoe UI"/>
              </a:defRPr>
            </a:pPr>
            <a:r>
              <a:t>Tối ưu hóa khả năng gợi ý bạn học phù hợp dựa trên 5 chiều dữ liệu trọng số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2CE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tching_algorith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6583680" cy="27479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645920"/>
            <a:ext cx="3642055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1B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EAA3"/>
                </a:solidFill>
              </a:defRPr>
            </a:pPr>
            <a:r>
              <a:t>🎯 Ý NGHĨA 5 TRỌNG SỐ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W1 = 3.0 (Same School)</a:t>
            </a:r>
          </a:p>
          <a:p>
            <a:pPr>
              <a:defRPr sz="950">
                <a:solidFill>
                  <a:srgbClr val="8FA0AD"/>
                </a:solidFill>
              </a:defRPr>
            </a:pPr>
            <a:r>
              <a:t>Trọng số lớn nhất. So khớp chính xác trường đại học (FTU = FTU) để sinh viên dễ gặp nhau.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W2 = 2.0 (Same Area)</a:t>
            </a:r>
          </a:p>
          <a:p>
            <a:pPr>
              <a:defRPr sz="950">
                <a:solidFill>
                  <a:srgbClr val="8FA0AD"/>
                </a:solidFill>
              </a:defRPr>
            </a:pPr>
            <a:r>
              <a:t>70% cùng thành phố + 30% cùng quận/huyện (Đống Đa, Chùa Láng) phục vụ học offline.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W3 = 2.5 (Subject Overlap)</a:t>
            </a:r>
          </a:p>
          <a:p>
            <a:pPr>
              <a:defRPr sz="950">
                <a:solidFill>
                  <a:srgbClr val="8FA0AD"/>
                </a:solidFill>
              </a:defRPr>
            </a:pPr>
            <a:r>
              <a:t>Tính chỉ số Jaccard Similarity giữa môn học của user và tags của Quest: |A ∩ B| / |A ∪ B|.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W4 = 1.0 (Recency Decay)</a:t>
            </a:r>
          </a:p>
          <a:p>
            <a:pPr>
              <a:defRPr sz="950">
                <a:solidFill>
                  <a:srgbClr val="8FA0AD"/>
                </a:solidFill>
              </a:defRPr>
            </a:pPr>
            <a:r>
              <a:t>Hàm suy giảm số mũ exp(-0.029*t) với chu kỳ bán rã 24h, ưu tiên tin đăng mới.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W5 = 1.5 (Author Rating)</a:t>
            </a:r>
          </a:p>
          <a:p>
            <a:pPr>
              <a:defRPr sz="950">
                <a:solidFill>
                  <a:srgbClr val="8FA0AD"/>
                </a:solidFill>
              </a:defRPr>
            </a:pPr>
            <a:r>
              <a:t>Chuẩn hóa sao (Rating/5.0), khuyến khích kết nối với bạn học uy tín, chăm chỉ.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EAA3"/>
                </a:solidFill>
                <a:latin typeface="Segoe UI"/>
              </a:defRPr>
            </a:pPr>
            <a:r>
              <a:t>PART 3: FEATURES BUILT (MODULE 1 &amp;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Tính Năng: Khởi Tạo Hero &amp; Bảng Tin Quest Feed</a:t>
            </a:r>
          </a:p>
          <a:p>
            <a:pPr>
              <a:defRPr sz="1200">
                <a:solidFill>
                  <a:srgbClr val="8FA0AD"/>
                </a:solidFill>
                <a:latin typeface="Segoe UI"/>
              </a:defRPr>
            </a:pPr>
            <a:r>
              <a:t>Đăng ký an toàn danh tính với 15 Chibi Avatars và Đăng/Lọc nhiệm vụ học tập thông minh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1B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_01_register_ava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4892040" cy="31610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93776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EAA3"/>
                </a:solidFill>
              </a:defRPr>
            </a:pPr>
            <a:r>
              <a:t>F1: Hero Registration &amp; 15 Chibi Avatars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Thu thập thông tin học thuật (Email trường .edu.vn, MSSV, Khoa, Ngành) kết hợp chọn 1 trong 15 Avatar Chibi Pixel độc quyền, bảo vệ danh tính sinh viên.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66360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1B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_03_create_quest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892040" cy="33354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93776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F2: Create Study Quest Modal &amp; Live Preview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Tạo nhiệm vụ học tập Offline (Thư viện/Cà phê) hoặc Online (Phòng ảo). Form thông minh tự động gắn tags môn học và có khung xem trước hiển thị thời gian thực.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EAA3"/>
                </a:solidFill>
                <a:latin typeface="Segoe UI"/>
              </a:defRPr>
            </a:pPr>
            <a:r>
              <a:t>PART 3: FEATURES BUILT (MODULE 3 &amp;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Tính Năng: Phòng Học Ảo LiveKit &amp; Đánh Giá Tín Nhiệm</a:t>
            </a:r>
          </a:p>
          <a:p>
            <a:pPr>
              <a:defRPr sz="1200">
                <a:solidFill>
                  <a:srgbClr val="8FA0AD"/>
                </a:solidFill>
                <a:latin typeface="Segoe UI"/>
              </a:defRPr>
            </a:pPr>
            <a:r>
              <a:t>Hội thảo video HD tích hợp đồng hồ Pomodoro, Chat 1-1 và hệ thống tích lũy EXP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1B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_04_virtual_rooms_lob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4892040" cy="271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93776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F3: Adventure Zones &amp; LiveKit WebRTC Call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Truyền phát video HD 720p (&lt; 20ms RTT), nhận diện người nói Active Speaker, chia sẻ màn hình, đồng hồ Pomodoro 25 phút đếm ngược và In-Room Chat ghi chú.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66360" cy="45720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1B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_05_hero_profile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892040" cy="27094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93776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F4: Star Rating, Gamified Badges &amp; 1-1 Chat</a:t>
            </a:r>
          </a:p>
          <a:p>
            <a:pPr>
              <a:defRPr sz="1000">
                <a:solidFill>
                  <a:srgbClr val="8FA0AD"/>
                </a:solidFill>
              </a:defRPr>
            </a:pPr>
            <a:r>
              <a:t>Đánh giá 1-5 sao sau buổi học, tích lũy EXP thăng cấp Hero, mở khóa huy hiệu (Top Scholar, Punctual Master) và nhắn tin riêng 1-1 thời gian thực qua WebSocket.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EAA3"/>
                </a:solidFill>
                <a:latin typeface="Segoe UI"/>
              </a:defRPr>
            </a:pPr>
            <a:r>
              <a:t>PART 4: 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Kịch Bản Demo Trực Quan (5-Step User Journey)</a:t>
            </a:r>
          </a:p>
          <a:p>
            <a:pPr>
              <a:defRPr sz="1200">
                <a:solidFill>
                  <a:srgbClr val="8FA0AD"/>
                </a:solidFill>
                <a:latin typeface="Segoe UI"/>
              </a:defRPr>
            </a:pPr>
            <a:r>
              <a:t>Quy trình tuần tự chứng minh tính hoàn thiện và khả năng chạy thực tế của dự 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2CE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EAA3"/>
                </a:solidFill>
              </a:defRPr>
            </a:pPr>
            <a:r>
              <a:t>BƯỚC 1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Khởi Tạo Hero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Đăng ký thông tin học tập, chọn Avatar Chibi #1 'Cyber Scholar', tải thẻ SV xác minh tài khoản.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645920"/>
            <a:ext cx="2011680" cy="438912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BƯỚC 2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Khám Phá Quest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Vào bảng tin Discover Partners, chọn lọc môn 'Kinh tế lượng' / 'Python', kiểm tra Match Score 98%.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BƯỚC 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Đăng Quest Mới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Mở modal tạo Quest Offline tại Thư viện FTU Tòa A, hệ thống tự động đẩy tin đến bạn học cùng trường.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BƯỚC 4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Phòng Học LiveKit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Tham gia phòng học ảo Adventure Zone, bật WebRTC call, bật Pomodoro 25 phút tập trung giải bài tập.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2CE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EAA3"/>
                </a:solidFill>
              </a:defRPr>
            </a:pPr>
            <a:r>
              <a:t>BƯỚC 5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Đánh Giá &amp; Chat</a:t>
            </a:r>
          </a:p>
          <a:p>
            <a:pPr>
              <a:defRPr sz="1050">
                <a:solidFill>
                  <a:srgbClr val="8FA0AD"/>
                </a:solidFill>
              </a:defRPr>
            </a:pPr>
            <a:r>
              <a:t>Rời phòng, chấm 5★ cho bạn học, thăng cấp Level 14 Study Hero, nhắn tin 1-1 hẹn lịch học tuần sau.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EAA3"/>
                </a:solidFill>
                <a:latin typeface="Segoe UI"/>
              </a:defRPr>
            </a:pPr>
            <a:r>
              <a:t>PROJECT IMPACT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Tổng Kết Dự Án &amp; Hiệu Quả Triển Khai</a:t>
            </a:r>
          </a:p>
          <a:p>
            <a:pPr>
              <a:defRPr sz="1200">
                <a:solidFill>
                  <a:srgbClr val="8FA0AD"/>
                </a:solidFill>
                <a:latin typeface="Segoe UI"/>
              </a:defRPr>
            </a:pPr>
            <a:r>
              <a:t>Đánh giá mức độ hoàn thiện, chi phí hạ tầng và giá trị ứng dụng thực tế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66360" cy="201168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2CE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17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EAA3"/>
                </a:solidFill>
              </a:defRPr>
            </a:pPr>
            <a:r>
              <a:t>100% Pure Python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Fullstack Reflex + FastAPI + SQLite, 0% phụ thuộc Docker / Redis, sẵn sàng triển khai trên mọi môi trường.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45920"/>
            <a:ext cx="5166360" cy="201168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2CE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920240"/>
            <a:ext cx="4617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EAA3"/>
                </a:solidFill>
              </a:defRPr>
            </a:pPr>
            <a:r>
              <a:t>Chi Phí ~0-5$/Tháng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Tối ưu hóa tối đa chi phí hạ tầng nhờ SQLite nhúng và In-Memory RAM Hub, miễn phí 100% cho sinh viên.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66360" cy="201168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2CE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617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EAA3"/>
                </a:solidFill>
              </a:defRPr>
            </a:pPr>
            <a:r>
              <a:t>&lt; 20ms Độ Trễ WebRTC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Hạ tầng LiveKit Cloud SFU cung cấp trải nghiệm gọi video nhóm mượt mà, ổn định chuẩn 720p HD.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31920"/>
            <a:ext cx="5166360" cy="201168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2CE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206240"/>
            <a:ext cx="4617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EAA3"/>
                </a:solidFill>
              </a:defRPr>
            </a:pPr>
            <a:r>
              <a:t>Bản Quyền Đồ Án Nhóm 10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Dự án hoàn chỉnh cả về Business Plan, Design System, Báo cáo DOCX 30 trang và mã nguồn chạy thực tế.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01D24"/>
          </a:solidFill>
          <a:ln w="15240">
            <a:solidFill>
              <a:srgbClr val="2CE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CẢM ƠN THẦY VÀ CÁC BẠN ĐÃ LẮNG NGHE!</a:t>
            </a:r>
          </a:p>
          <a:p>
            <a:pPr algn="ctr">
              <a:defRPr sz="1600" b="1">
                <a:solidFill>
                  <a:srgbClr val="2CEAA3"/>
                </a:solidFill>
              </a:defRPr>
            </a:pPr>
            <a:r>
              <a:t>FORFRIEND: STUDENT STUDY BUDDY &amp; VIRTUAL ROOM</a:t>
            </a:r>
          </a:p>
          <a:p>
            <a:br/>
            <a:pPr algn="ctr">
              <a:defRPr sz="1300">
                <a:solidFill>
                  <a:srgbClr val="00D2FF"/>
                </a:solidFill>
              </a:defRPr>
            </a:pPr>
            <a:r>
              <a:t>Nhóm 10 — Lớp tín chỉ TIN314(2526-2)He.1</a:t>
            </a:r>
          </a:p>
          <a:p>
            <a:pPr algn="ctr">
              <a:defRPr sz="1200">
                <a:solidFill>
                  <a:srgbClr val="FBBF24"/>
                </a:solidFill>
              </a:defRPr>
            </a:pPr>
            <a:r>
              <a:t>Giảng viên hướng dẫn: ThS. Trần Công Minh</a:t>
            </a:r>
          </a:p>
          <a:p>
            <a:pPr algn="ctr">
              <a:defRPr sz="1300" b="1">
                <a:solidFill>
                  <a:srgbClr val="F43F5E"/>
                </a:solidFill>
              </a:defRPr>
            </a:pPr>
            <a:r>
              <a:t>🚀 Xin mời Thầy và các bạn cùng theo dõi phần Live Demonstration!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